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8" r:id="rId4"/>
    <p:sldId id="259" r:id="rId5"/>
    <p:sldId id="275" r:id="rId6"/>
    <p:sldId id="276" r:id="rId7"/>
    <p:sldId id="260" r:id="rId8"/>
    <p:sldId id="262" r:id="rId9"/>
    <p:sldId id="263" r:id="rId10"/>
    <p:sldId id="264" r:id="rId11"/>
    <p:sldId id="265" r:id="rId12"/>
    <p:sldId id="266" r:id="rId13"/>
    <p:sldId id="278" r:id="rId14"/>
    <p:sldId id="272" r:id="rId15"/>
    <p:sldId id="280" r:id="rId16"/>
    <p:sldId id="277" r:id="rId17"/>
    <p:sldId id="273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70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00615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47956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14282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09470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51223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svg"/><Relationship Id="rId3" Type="http://schemas.openxmlformats.org/officeDocument/2006/relationships/image" Target="../media/image2.jpeg"/><Relationship Id="rId7" Type="http://schemas.openxmlformats.org/officeDocument/2006/relationships/image" Target="../media/image17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7.svg"/><Relationship Id="rId5" Type="http://schemas.openxmlformats.org/officeDocument/2006/relationships/image" Target="../media/image15.svg"/><Relationship Id="rId15" Type="http://schemas.openxmlformats.org/officeDocument/2006/relationships/image" Target="../media/image13.svg"/><Relationship Id="rId10" Type="http://schemas.openxmlformats.org/officeDocument/2006/relationships/image" Target="../media/image6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LifeMem-AgenticSearch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先进的多跳检索与代理式搜索评估系统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318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4699000"/>
            <a:ext cx="1219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工作汇报 | 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实验动机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r>
              <a:rPr lang="en-US" altLang="zh-CN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otivation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212121"/>
                </a:solidFill>
                <a:latin typeface="Noto Sans SC"/>
                <a:ea typeface="Noto Sans SC"/>
                <a:sym typeface="Noto Sans SC"/>
              </a:rPr>
              <a:t>实验动机</a:t>
            </a:r>
            <a:endParaRPr lang="en-US" sz="11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01B4388-8F64-439F-B5A9-44E4242DD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642" y="1237368"/>
            <a:ext cx="7246715" cy="543503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E7C76F4-CECB-4027-B81B-6A51C6CCD93C}"/>
              </a:ext>
            </a:extLst>
          </p:cNvPr>
          <p:cNvSpPr/>
          <p:nvPr/>
        </p:nvSpPr>
        <p:spPr>
          <a:xfrm>
            <a:off x="2525917" y="4553893"/>
            <a:ext cx="1068309" cy="50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D157CD-BA7F-4EA2-BCED-56483AC4F0C4}"/>
              </a:ext>
            </a:extLst>
          </p:cNvPr>
          <p:cNvSpPr/>
          <p:nvPr/>
        </p:nvSpPr>
        <p:spPr>
          <a:xfrm>
            <a:off x="6969659" y="5475837"/>
            <a:ext cx="1068309" cy="50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26D85F-92CC-4A0A-92A8-0ED5B561BEBE}"/>
              </a:ext>
            </a:extLst>
          </p:cNvPr>
          <p:cNvSpPr txBox="1"/>
          <p:nvPr/>
        </p:nvSpPr>
        <p:spPr>
          <a:xfrm>
            <a:off x="2663751" y="5888388"/>
            <a:ext cx="2057399" cy="606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过长的</a:t>
            </a:r>
            <a:r>
              <a:rPr lang="en-US" altLang="zh-CN" sz="14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generation reasoning</a:t>
            </a:r>
            <a:r>
              <a:rPr lang="zh-CN" altLang="en-US" sz="14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消耗！</a:t>
            </a:r>
            <a:endParaRPr lang="en-US" altLang="zh-CN" sz="800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0CC657-9179-42E2-BAFB-9CCE7D3E060C}"/>
              </a:ext>
            </a:extLst>
          </p:cNvPr>
          <p:cNvSpPr/>
          <p:nvPr/>
        </p:nvSpPr>
        <p:spPr>
          <a:xfrm>
            <a:off x="8498186" y="3723546"/>
            <a:ext cx="446639" cy="15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4D2C45-D678-4DDD-80D1-375E526B20A7}"/>
              </a:ext>
            </a:extLst>
          </p:cNvPr>
          <p:cNvSpPr/>
          <p:nvPr/>
        </p:nvSpPr>
        <p:spPr>
          <a:xfrm>
            <a:off x="8498186" y="3359894"/>
            <a:ext cx="446639" cy="15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D750E10-58BE-4F69-A592-D13EC21C4432}"/>
              </a:ext>
            </a:extLst>
          </p:cNvPr>
          <p:cNvSpPr/>
          <p:nvPr/>
        </p:nvSpPr>
        <p:spPr>
          <a:xfrm>
            <a:off x="8498185" y="4758655"/>
            <a:ext cx="446639" cy="15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EB00E45-9B63-4AEA-9E13-1AEB832CBC52}"/>
              </a:ext>
            </a:extLst>
          </p:cNvPr>
          <p:cNvSpPr/>
          <p:nvPr/>
        </p:nvSpPr>
        <p:spPr>
          <a:xfrm>
            <a:off x="8498185" y="5122307"/>
            <a:ext cx="446639" cy="15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2B52A5D-4EC1-4800-B0AC-3907D0938394}"/>
              </a:ext>
            </a:extLst>
          </p:cNvPr>
          <p:cNvSpPr txBox="1"/>
          <p:nvPr/>
        </p:nvSpPr>
        <p:spPr>
          <a:xfrm>
            <a:off x="8138761" y="5519179"/>
            <a:ext cx="1612125" cy="606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  <a:latin typeface="Noto Sans SC"/>
                <a:ea typeface="Noto Sans SC"/>
                <a:sym typeface="Noto Sans SC"/>
              </a:rPr>
              <a:t>只能支持最多</a:t>
            </a:r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sym typeface="Noto Sans SC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Noto Sans SC"/>
                <a:ea typeface="Noto Sans SC"/>
                <a:sym typeface="Noto Sans SC"/>
              </a:rPr>
              <a:t>跳的简单问题</a:t>
            </a:r>
            <a:endParaRPr lang="en-US" altLang="zh-CN" sz="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2" grpId="0"/>
      <p:bldP spid="22" grpId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/>
      <p:bldP spid="2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项目概述与核心价值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PROJECT OVERVIEW &amp; CORE VALUE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14051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项目定位：先进的多跳检索与代理式搜索评估系统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9500" y="1778000"/>
            <a:ext cx="914400" cy="914400"/>
          </a:xfrm>
          <a:prstGeom prst="ellipse">
            <a:avLst/>
          </a:prstGeom>
          <a:solidFill>
            <a:srgbClr val="00E5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2700" y="19812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22500" y="1905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一句话定位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549">
            <a:off x="1079509" y="2978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E5FF">
                <a:alpha val="7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079500" y="3302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一个基于对比学习的先进多跳检索系统，旨在为</a:t>
            </a:r>
            <a:r>
              <a:rPr lang="zh-CN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搜索（Agentic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Search）提供高效、准确的评估基准与优化方案，填补当前技术空白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1778000"/>
            <a:ext cx="914400" cy="914400"/>
          </a:xfrm>
          <a:prstGeom prst="ellipse">
            <a:avLst/>
          </a:prstGeom>
          <a:solidFill>
            <a:srgbClr val="00E5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3700" y="19812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683500" y="1905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核心使命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9">
            <a:off x="6540509" y="2978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E5FF">
                <a:alpha val="7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/>
        </p:nvSpPr>
        <p:spPr>
          <a:xfrm>
            <a:off x="6540500" y="33020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聚焦解决当前</a:t>
            </a:r>
            <a:r>
              <a:rPr lang="zh-CN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式搜索在实际应用中的性能瓶颈，大幅提升复杂检索任务的效率与准确性。重点为在端侧设备等资源受限环境下，部署高性能的复杂搜索能力提供坚实的技术支撑与评估依据。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94362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1999" y="220387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核心痛点：现有Agentic</a:t>
            </a:r>
            <a:r>
              <a:rPr lang="en-US" sz="3200" b="1" i="0" u="none" strike="noStrike" dirty="0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200" b="1" i="0" u="none" strike="noStrike" dirty="0" err="1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Search的性能瓶颈</a:t>
            </a:r>
            <a:endParaRPr lang="en-US" sz="11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58E0C93-835C-4132-8C5E-E5A91D946C67}"/>
              </a:ext>
            </a:extLst>
          </p:cNvPr>
          <p:cNvGrpSpPr/>
          <p:nvPr/>
        </p:nvGrpSpPr>
        <p:grpSpPr>
          <a:xfrm>
            <a:off x="1145586" y="948774"/>
            <a:ext cx="10044317" cy="2807957"/>
            <a:chOff x="5842000" y="1397000"/>
            <a:chExt cx="5334000" cy="2222500"/>
          </a:xfrm>
        </p:grpSpPr>
        <p:sp>
          <p:nvSpPr>
            <p:cNvPr id="7" name="AutoShape 7"/>
            <p:cNvSpPr/>
            <p:nvPr/>
          </p:nvSpPr>
          <p:spPr>
            <a:xfrm>
              <a:off x="5842000" y="1397000"/>
              <a:ext cx="5334000" cy="2222500"/>
            </a:xfrm>
            <a:prstGeom prst="roundRect">
              <a:avLst>
                <a:gd name="adj" fmla="val 6857"/>
              </a:avLst>
            </a:prstGeom>
            <a:solidFill>
              <a:srgbClr val="14181E">
                <a:alpha val="9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5842000" y="1397000"/>
              <a:ext cx="76200" cy="2222500"/>
            </a:xfrm>
            <a:prstGeom prst="roundRect">
              <a:avLst>
                <a:gd name="adj" fmla="val 20000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6172200" y="1651000"/>
              <a:ext cx="711200" cy="711200"/>
            </a:xfrm>
            <a:prstGeom prst="ellipse">
              <a:avLst/>
            </a:prstGeom>
            <a:solidFill>
              <a:srgbClr val="00E5FF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24600" y="1803400"/>
              <a:ext cx="406400" cy="40640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/>
          </p:nvSpPr>
          <p:spPr>
            <a:xfrm>
              <a:off x="7112000" y="1651000"/>
              <a:ext cx="381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400" b="1" i="0" u="none" strike="noStrike" dirty="0" err="1">
                  <a:solidFill>
                    <a:srgbClr val="00E5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挑战一：高昂的时间开销</a:t>
              </a:r>
              <a:endParaRPr lang="en-US" sz="2400" dirty="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7112000" y="2222500"/>
              <a:ext cx="3683000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6666"/>
                </a:lnSpc>
                <a:defRPr/>
              </a:pPr>
              <a:r>
                <a:rPr lang="en-US" sz="1800" b="0" i="0" u="none" strike="noStrike" dirty="0">
                  <a:solidFill>
                    <a:srgbClr val="E0E0E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Agentic </a:t>
              </a:r>
              <a:r>
                <a:rPr lang="en-US" sz="1800" b="0" i="0" u="none" strike="noStrike" dirty="0" err="1">
                  <a:solidFill>
                    <a:srgbClr val="E0E0E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Search的多轮迭代检索过程，虽能保证准确性，但每轮复杂的计算与检索导致整体耗时过长，严重拖慢系统响应，影响用户交互体验</a:t>
              </a:r>
              <a:r>
                <a:rPr lang="en-US" sz="1800" b="0" i="0" u="none" strike="noStrike" dirty="0">
                  <a:solidFill>
                    <a:srgbClr val="E0E0E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800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CFC1251-CC39-4B21-B744-6E1D0E1DA35A}"/>
              </a:ext>
            </a:extLst>
          </p:cNvPr>
          <p:cNvGrpSpPr/>
          <p:nvPr/>
        </p:nvGrpSpPr>
        <p:grpSpPr>
          <a:xfrm>
            <a:off x="1073840" y="3903386"/>
            <a:ext cx="10044317" cy="2807958"/>
            <a:chOff x="5842000" y="3873500"/>
            <a:chExt cx="5334000" cy="2222501"/>
          </a:xfrm>
        </p:grpSpPr>
        <p:sp>
          <p:nvSpPr>
            <p:cNvPr id="13" name="AutoShape 13"/>
            <p:cNvSpPr/>
            <p:nvPr/>
          </p:nvSpPr>
          <p:spPr>
            <a:xfrm>
              <a:off x="5842000" y="3873501"/>
              <a:ext cx="5334000" cy="2222500"/>
            </a:xfrm>
            <a:prstGeom prst="roundRect">
              <a:avLst>
                <a:gd name="adj" fmla="val 6857"/>
              </a:avLst>
            </a:prstGeom>
            <a:solidFill>
              <a:srgbClr val="14181E">
                <a:alpha val="9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5842000" y="3873500"/>
              <a:ext cx="76200" cy="2222500"/>
            </a:xfrm>
            <a:prstGeom prst="roundRect">
              <a:avLst>
                <a:gd name="adj" fmla="val 20000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172200" y="4127500"/>
              <a:ext cx="711200" cy="711200"/>
            </a:xfrm>
            <a:prstGeom prst="ellipse">
              <a:avLst/>
            </a:prstGeom>
            <a:solidFill>
              <a:srgbClr val="00E5FF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24600" y="4279900"/>
              <a:ext cx="406400" cy="40640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/>
          </p:nvSpPr>
          <p:spPr>
            <a:xfrm>
              <a:off x="7112000" y="4127500"/>
              <a:ext cx="381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400" b="1" i="0" u="none" strike="noStrike" dirty="0" err="1">
                  <a:solidFill>
                    <a:srgbClr val="00E5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挑战二：端侧部署的资源限制</a:t>
              </a:r>
              <a:endParaRPr lang="en-US" sz="24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112000" y="4699000"/>
              <a:ext cx="3683000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6666"/>
                </a:lnSpc>
                <a:defRPr/>
              </a:pPr>
              <a:r>
                <a:rPr lang="en-US" sz="1800" b="0" i="0" u="none" strike="noStrike" dirty="0">
                  <a:solidFill>
                    <a:srgbClr val="E0E0E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作为需落地的应用，EverMemOS必须适配算力有限的端侧设备。现有方案的高内存与算力消耗，使其难以满足在移动端或边缘设备上流畅运行的要求。</a:t>
              </a:r>
              <a:endParaRPr lang="en-US" sz="18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最新动态 (截至2026年6月)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854200" y="1905000"/>
            <a:ext cx="1117600" cy="1117600"/>
          </a:xfrm>
          <a:prstGeom prst="ellipse">
            <a:avLst/>
          </a:prstGeom>
          <a:solidFill>
            <a:srgbClr val="00E5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7400" y="2108200"/>
            <a:ext cx="711200" cy="711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发布初始版本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3937000"/>
            <a:ext cx="1270000" cy="38100"/>
          </a:xfrm>
          <a:prstGeom prst="roundRect">
            <a:avLst>
              <a:gd name="adj" fmla="val 0"/>
            </a:avLst>
          </a:prstGeom>
          <a:solidFill>
            <a:srgbClr val="00E5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成功支持 MuSiQue、2WikiMultiHopQA 和 HotpotQA 三大主流多跳问答数据集。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537200" y="1905000"/>
            <a:ext cx="1117600" cy="1117600"/>
          </a:xfrm>
          <a:prstGeom prst="ellipse">
            <a:avLst/>
          </a:prstGeom>
          <a:solidFill>
            <a:srgbClr val="00E5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0400" y="2108200"/>
            <a:ext cx="711200" cy="711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99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实现核心算法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461000" y="3937000"/>
            <a:ext cx="1270000" cy="38100"/>
          </a:xfrm>
          <a:prstGeom prst="roundRect">
            <a:avLst>
              <a:gd name="adj" fmla="val 0"/>
            </a:avLst>
          </a:prstGeom>
          <a:solidFill>
            <a:srgbClr val="00E5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699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完成基于</a:t>
            </a:r>
            <a:r>
              <a:rPr lang="en-US" sz="12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InfoNCE</a:t>
            </a:r>
            <a:r>
              <a:rPr lang="en-US" sz="12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损失的多跳对比学习训练框架，大幅提升模型特征提取能力</a:t>
            </a:r>
            <a:r>
              <a:rPr lang="en-US" sz="12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128000" y="1524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220200" y="1905000"/>
            <a:ext cx="1117600" cy="1117600"/>
          </a:xfrm>
          <a:prstGeom prst="ellipse">
            <a:avLst/>
          </a:prstGeom>
          <a:solidFill>
            <a:srgbClr val="00E5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23400" y="2108200"/>
            <a:ext cx="711200" cy="711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382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构建评估流程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3937000"/>
            <a:ext cx="1270000" cy="38100"/>
          </a:xfrm>
          <a:prstGeom prst="roundRect">
            <a:avLst>
              <a:gd name="adj" fmla="val 0"/>
            </a:avLst>
          </a:prstGeom>
          <a:solidFill>
            <a:srgbClr val="00E5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82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 IRCOT 风格的多跳检索评估流程，可对模型的检索准确性进行全面量化评估。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核心功能与技术亮点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 FEATURES &amp; TECHNICAL HIGHLIGHTS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546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77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多跳检索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286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支持多轮迭代检索，模拟人类思考过程，逐步精确定位复杂问题所需的分散信息。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191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419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多数据集支持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4699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兼容MuSiQue、2WikiMultiHopQA、HotpotQA等学术界公认的权威多跳问答数据集。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1397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45000" y="1397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00" y="1778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588000" y="177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对比学习训练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588000" y="2286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采用先进的InfoNCE损失函数训练，有效学习文本语义关联，显著提升检索的准确性</a:t>
            </a:r>
            <a:r>
              <a:rPr lang="en-US" sz="11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4445000" y="3810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445000" y="3810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41910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588000" y="419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高效分布式训练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588000" y="4699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集成DeepSpeed框架，支持大规模数据并行训练，大幅缩短模型训练周期，提升效率。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1397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128000" y="1397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0" y="17780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271000" y="177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灵活的文档索引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71000" y="2286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支持高效的索引构建与快速加载，优化底层数据结构，显著提升检索阶段的响应速度。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3810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128000" y="3810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82000" y="4191000"/>
            <a:ext cx="609600" cy="609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271000" y="419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全面评估指标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71000" y="4699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提供Recall、Precision、MRR、MAP等多种标准指标，全方位量化衡量系统的检索性能。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技术亮点一：基于InforNCE的对比学习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1524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842000" y="1841500"/>
            <a:ext cx="762000" cy="762000"/>
          </a:xfrm>
          <a:prstGeom prst="ellipse">
            <a:avLst/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4400" y="19939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858000" y="171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核心原理：拉近推远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858000" y="2159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通过将语义相似的样本（正例）在向量空间中拉近，将不相似的样本（负例）推远，让模型学习到具备强判别力的文本特征表示。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3175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842000" y="3492500"/>
            <a:ext cx="762000" cy="762000"/>
          </a:xfrm>
          <a:prstGeom prst="ellipse">
            <a:avLst/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4400" y="36449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3365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核心方法：InforNCE 损失函数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8000" y="3810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最大化正样本对的相似度并最小化负样本对的相似度，作为核心损失函数指导检索模型训练，实现 Query 与相关文档的精准匹配。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88000" y="4826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842000" y="5143500"/>
            <a:ext cx="762000" cy="762000"/>
          </a:xfrm>
          <a:prstGeom prst="ellipse">
            <a:avLst/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4400" y="52959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5016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显著优势：深层语义理解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0" y="5461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相比传统检索方法，模型具备更强的上下文语义理解能力，即使面对表述不直接、隐含意图的复杂查询，也能准确召回相关信息。</a:t>
            </a:r>
            <a:endParaRPr lang="en-US" sz="110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3E46ABF-9E4B-41EB-88BB-7AE16B5F48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181603" y="1524000"/>
            <a:ext cx="4907953" cy="34925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1E5317A-6D0E-4BAB-8516-0370989C3C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979" y="5248239"/>
            <a:ext cx="4602021" cy="10605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技术亮点二：IRCOT风格的多跳检索评估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249" y="4925674"/>
            <a:ext cx="5600429" cy="1372563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23026" y="4925674"/>
            <a:ext cx="97398" cy="1372563"/>
          </a:xfrm>
          <a:prstGeom prst="roundRect">
            <a:avLst>
              <a:gd name="adj" fmla="val 15000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497" y="5247937"/>
            <a:ext cx="526058" cy="526058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55819" y="5118485"/>
            <a:ext cx="4382945" cy="9982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IRCOT </a:t>
            </a:r>
            <a:r>
              <a:rPr lang="en-US" sz="1600" b="1" i="0" u="none" strike="noStrike" dirty="0" err="1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即“</a:t>
            </a:r>
            <a:r>
              <a:rPr lang="en-US" sz="12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检索与思维链交织</a:t>
            </a: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2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模拟人类回答复杂问题时“边想边查”的自然思维过程，将大模型的推理能力与检索工具深度结合</a:t>
            </a: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095839" y="4901237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095839" y="4901237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639" y="5155237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1839" y="5091737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多轮迭代检索思想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拒绝“</a:t>
            </a:r>
            <a:r>
              <a:rPr lang="en-US" sz="12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一步到位</a:t>
            </a: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2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每一轮检索均利用上一轮的结果构建新的、更具针对性的查询词，循环往复，直到收集到足够的信息片段</a:t>
            </a: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F2BD0D3-4610-4639-8245-BD6E0F855D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1737" y="1074862"/>
            <a:ext cx="8930491" cy="36602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</a:t>
            </a:r>
            <a:r>
              <a:rPr lang="zh-CN" altLang="en-US" sz="3200" b="1" dirty="0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3200" b="1" i="0" u="none" strike="noStrike" dirty="0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3200" b="1" i="0" u="none" strike="noStrike" dirty="0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无需问题生成和充分性评估的多跳检索系统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41249" y="4925674"/>
            <a:ext cx="5600429" cy="1372563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23026" y="4925674"/>
            <a:ext cx="97398" cy="1372563"/>
          </a:xfrm>
          <a:prstGeom prst="roundRect">
            <a:avLst>
              <a:gd name="adj" fmla="val 15000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497" y="5247937"/>
            <a:ext cx="526058" cy="526058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55819" y="5118485"/>
            <a:ext cx="4382945" cy="9982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 i="0" u="none" strike="noStrike" dirty="0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基于检索的</a:t>
            </a:r>
            <a:r>
              <a:rPr lang="zh-CN" altLang="en-US" sz="1600" b="1" dirty="0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充分性判断</a:t>
            </a:r>
            <a:endParaRPr lang="en-US" altLang="zh-CN" sz="1600" b="1" i="0" u="none" strike="noStrike" dirty="0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直接构造充分性表征，通过检索模型计算点积相似度来对当前知识是否来进行判别</a:t>
            </a: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095839" y="4901237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095839" y="4901237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639" y="5155237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1839" y="5091737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 i="0" u="none" strike="noStrike" dirty="0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消除子问题生成模块</a:t>
            </a:r>
            <a:endParaRPr lang="en-US" altLang="zh-CN" sz="1600" b="1" i="0" u="none" strike="noStrike" dirty="0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生成子问题的核心是为了下一条的检索，本结构直接赋予检索模型推理的能力，直接判断当前知识是否充分以及判断缺少的内容的表征是什么。</a:t>
            </a:r>
            <a:endParaRPr lang="en-US" sz="12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F2BD0D3-4610-4639-8245-BD6E0F855D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1737" y="1074862"/>
            <a:ext cx="8930491" cy="366024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118B1B4-BD76-49C6-B939-9097B0AAC98D}"/>
              </a:ext>
            </a:extLst>
          </p:cNvPr>
          <p:cNvSpPr/>
          <p:nvPr/>
        </p:nvSpPr>
        <p:spPr>
          <a:xfrm>
            <a:off x="1631950" y="2130909"/>
            <a:ext cx="5126400" cy="6485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E22836-D8D2-4044-B938-E15EA8402F21}"/>
              </a:ext>
            </a:extLst>
          </p:cNvPr>
          <p:cNvSpPr/>
          <p:nvPr/>
        </p:nvSpPr>
        <p:spPr>
          <a:xfrm>
            <a:off x="1631950" y="2779415"/>
            <a:ext cx="5126400" cy="709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0610A3-46DC-4EA6-9C3A-AEF1C017DCC6}"/>
              </a:ext>
            </a:extLst>
          </p:cNvPr>
          <p:cNvSpPr/>
          <p:nvPr/>
        </p:nvSpPr>
        <p:spPr>
          <a:xfrm>
            <a:off x="1631950" y="3486342"/>
            <a:ext cx="5126400" cy="650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51FB43E2-3482-4F65-A0C7-B71B94195F53}"/>
              </a:ext>
            </a:extLst>
          </p:cNvPr>
          <p:cNvGrpSpPr/>
          <p:nvPr/>
        </p:nvGrpSpPr>
        <p:grpSpPr>
          <a:xfrm>
            <a:off x="1625600" y="1986681"/>
            <a:ext cx="5208156" cy="2194411"/>
            <a:chOff x="1625600" y="2000970"/>
            <a:chExt cx="5208156" cy="219441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086F986-CC87-4981-B934-DDD32639B149}"/>
                </a:ext>
              </a:extLst>
            </p:cNvPr>
            <p:cNvSpPr/>
            <p:nvPr/>
          </p:nvSpPr>
          <p:spPr>
            <a:xfrm>
              <a:off x="1625600" y="2076450"/>
              <a:ext cx="5132750" cy="21189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3C183A1D-0D2C-4E07-A589-7933A8A7D67A}"/>
                </a:ext>
              </a:extLst>
            </p:cNvPr>
            <p:cNvSpPr/>
            <p:nvPr/>
          </p:nvSpPr>
          <p:spPr>
            <a:xfrm>
              <a:off x="6366508" y="2252952"/>
              <a:ext cx="165100" cy="152400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流程图: 接点 30">
              <a:extLst>
                <a:ext uri="{FF2B5EF4-FFF2-40B4-BE49-F238E27FC236}">
                  <a16:creationId xmlns:a16="http://schemas.microsoft.com/office/drawing/2014/main" id="{01A5F68A-9CC1-4E0A-827D-AA97471E6197}"/>
                </a:ext>
              </a:extLst>
            </p:cNvPr>
            <p:cNvSpPr/>
            <p:nvPr/>
          </p:nvSpPr>
          <p:spPr>
            <a:xfrm>
              <a:off x="6132405" y="2252952"/>
              <a:ext cx="165100" cy="152400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流程图: 接点 31">
              <a:extLst>
                <a:ext uri="{FF2B5EF4-FFF2-40B4-BE49-F238E27FC236}">
                  <a16:creationId xmlns:a16="http://schemas.microsoft.com/office/drawing/2014/main" id="{F3A3F5B6-021E-4537-8264-EEF3EC52DC06}"/>
                </a:ext>
              </a:extLst>
            </p:cNvPr>
            <p:cNvSpPr/>
            <p:nvPr/>
          </p:nvSpPr>
          <p:spPr>
            <a:xfrm>
              <a:off x="5900686" y="2252952"/>
              <a:ext cx="165100" cy="152400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连接符: 曲线 32">
              <a:extLst>
                <a:ext uri="{FF2B5EF4-FFF2-40B4-BE49-F238E27FC236}">
                  <a16:creationId xmlns:a16="http://schemas.microsoft.com/office/drawing/2014/main" id="{2B01B778-8385-43DE-A83F-4A0BE8C2ED9B}"/>
                </a:ext>
              </a:extLst>
            </p:cNvPr>
            <p:cNvCxnSpPr>
              <a:cxnSpLocks/>
              <a:stCxn id="6" idx="0"/>
              <a:endCxn id="31" idx="4"/>
            </p:cNvCxnSpPr>
            <p:nvPr/>
          </p:nvCxnSpPr>
          <p:spPr>
            <a:xfrm rot="16200000" flipH="1" flipV="1">
              <a:off x="6255807" y="2212100"/>
              <a:ext cx="152400" cy="234103"/>
            </a:xfrm>
            <a:prstGeom prst="curvedConnector5">
              <a:avLst>
                <a:gd name="adj1" fmla="val -150000"/>
                <a:gd name="adj2" fmla="val 50000"/>
                <a:gd name="adj3" fmla="val 250000"/>
              </a:avLst>
            </a:prstGeom>
            <a:ln w="9525">
              <a:solidFill>
                <a:schemeClr val="accent4">
                  <a:lumMod val="75000"/>
                  <a:alpha val="39000"/>
                </a:schemeClr>
              </a:solidFill>
              <a:prstDash val="lgDash"/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符: 曲线 35">
              <a:extLst>
                <a:ext uri="{FF2B5EF4-FFF2-40B4-BE49-F238E27FC236}">
                  <a16:creationId xmlns:a16="http://schemas.microsoft.com/office/drawing/2014/main" id="{6B398ED3-9CC7-465C-9CD1-CEEA246467F1}"/>
                </a:ext>
              </a:extLst>
            </p:cNvPr>
            <p:cNvCxnSpPr>
              <a:cxnSpLocks/>
              <a:stCxn id="31" idx="0"/>
              <a:endCxn id="32" idx="4"/>
            </p:cNvCxnSpPr>
            <p:nvPr/>
          </p:nvCxnSpPr>
          <p:spPr>
            <a:xfrm rot="16200000" flipH="1" flipV="1">
              <a:off x="6022896" y="2213292"/>
              <a:ext cx="152400" cy="231719"/>
            </a:xfrm>
            <a:prstGeom prst="curvedConnector5">
              <a:avLst>
                <a:gd name="adj1" fmla="val -150000"/>
                <a:gd name="adj2" fmla="val 50000"/>
                <a:gd name="adj3" fmla="val 250000"/>
              </a:avLst>
            </a:prstGeom>
            <a:ln w="9525">
              <a:solidFill>
                <a:schemeClr val="accent4">
                  <a:lumMod val="75000"/>
                  <a:alpha val="39000"/>
                </a:schemeClr>
              </a:solidFill>
              <a:prstDash val="lgDash"/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曲线 44">
              <a:extLst>
                <a:ext uri="{FF2B5EF4-FFF2-40B4-BE49-F238E27FC236}">
                  <a16:creationId xmlns:a16="http://schemas.microsoft.com/office/drawing/2014/main" id="{367EF34E-D31A-4FE5-8487-2BF766A6BEBD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6531608" y="2329152"/>
              <a:ext cx="302148" cy="344322"/>
            </a:xfrm>
            <a:prstGeom prst="curvedConnector3">
              <a:avLst>
                <a:gd name="adj1" fmla="val 50000"/>
              </a:avLst>
            </a:prstGeom>
            <a:ln w="9525">
              <a:solidFill>
                <a:schemeClr val="accent4">
                  <a:lumMod val="75000"/>
                  <a:alpha val="39000"/>
                </a:schemeClr>
              </a:solidFill>
              <a:prstDash val="lgDash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连接符: 曲线 70">
              <a:extLst>
                <a:ext uri="{FF2B5EF4-FFF2-40B4-BE49-F238E27FC236}">
                  <a16:creationId xmlns:a16="http://schemas.microsoft.com/office/drawing/2014/main" id="{090503FD-18EE-4CFA-8717-1EC7FB48DDC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 rot="10800000" flipV="1">
              <a:off x="5983236" y="2000970"/>
              <a:ext cx="850156" cy="251982"/>
            </a:xfrm>
            <a:prstGeom prst="bentConnector2">
              <a:avLst/>
            </a:prstGeom>
            <a:ln w="9525">
              <a:solidFill>
                <a:schemeClr val="accent4">
                  <a:lumMod val="75000"/>
                  <a:alpha val="39000"/>
                </a:schemeClr>
              </a:solidFill>
              <a:prstDash val="lgDash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流程图: 接点 78">
              <a:extLst>
                <a:ext uri="{FF2B5EF4-FFF2-40B4-BE49-F238E27FC236}">
                  <a16:creationId xmlns:a16="http://schemas.microsoft.com/office/drawing/2014/main" id="{0CA5E495-EA43-4352-9943-B9BC04999323}"/>
                </a:ext>
              </a:extLst>
            </p:cNvPr>
            <p:cNvSpPr/>
            <p:nvPr/>
          </p:nvSpPr>
          <p:spPr>
            <a:xfrm>
              <a:off x="6348992" y="3054347"/>
              <a:ext cx="165100" cy="152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流程图: 接点 79">
              <a:extLst>
                <a:ext uri="{FF2B5EF4-FFF2-40B4-BE49-F238E27FC236}">
                  <a16:creationId xmlns:a16="http://schemas.microsoft.com/office/drawing/2014/main" id="{75014CD0-8E24-42AA-B616-EF17D3331460}"/>
                </a:ext>
              </a:extLst>
            </p:cNvPr>
            <p:cNvSpPr/>
            <p:nvPr/>
          </p:nvSpPr>
          <p:spPr>
            <a:xfrm>
              <a:off x="6114889" y="3054347"/>
              <a:ext cx="165100" cy="152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流程图: 接点 80">
              <a:extLst>
                <a:ext uri="{FF2B5EF4-FFF2-40B4-BE49-F238E27FC236}">
                  <a16:creationId xmlns:a16="http://schemas.microsoft.com/office/drawing/2014/main" id="{B13C43E1-166F-4E5A-B74E-0943CD3B1C49}"/>
                </a:ext>
              </a:extLst>
            </p:cNvPr>
            <p:cNvSpPr/>
            <p:nvPr/>
          </p:nvSpPr>
          <p:spPr>
            <a:xfrm>
              <a:off x="5883170" y="3054347"/>
              <a:ext cx="165100" cy="152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连接符: 曲线 81">
              <a:extLst>
                <a:ext uri="{FF2B5EF4-FFF2-40B4-BE49-F238E27FC236}">
                  <a16:creationId xmlns:a16="http://schemas.microsoft.com/office/drawing/2014/main" id="{BF47EF1A-9D3E-4ECB-9276-C66195799390}"/>
                </a:ext>
              </a:extLst>
            </p:cNvPr>
            <p:cNvCxnSpPr>
              <a:cxnSpLocks/>
              <a:stCxn id="79" idx="0"/>
              <a:endCxn id="80" idx="4"/>
            </p:cNvCxnSpPr>
            <p:nvPr/>
          </p:nvCxnSpPr>
          <p:spPr>
            <a:xfrm rot="16200000" flipH="1" flipV="1">
              <a:off x="6238291" y="3013495"/>
              <a:ext cx="152400" cy="234103"/>
            </a:xfrm>
            <a:prstGeom prst="curvedConnector5">
              <a:avLst>
                <a:gd name="adj1" fmla="val -150000"/>
                <a:gd name="adj2" fmla="val 50000"/>
                <a:gd name="adj3" fmla="val 250000"/>
              </a:avLst>
            </a:prstGeom>
            <a:ln w="9525">
              <a:solidFill>
                <a:srgbClr val="002060">
                  <a:alpha val="39000"/>
                </a:srgbClr>
              </a:solidFill>
              <a:prstDash val="lgDash"/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连接符: 曲线 82">
              <a:extLst>
                <a:ext uri="{FF2B5EF4-FFF2-40B4-BE49-F238E27FC236}">
                  <a16:creationId xmlns:a16="http://schemas.microsoft.com/office/drawing/2014/main" id="{AF67A697-7516-4CEF-89AC-20C6382E3FE0}"/>
                </a:ext>
              </a:extLst>
            </p:cNvPr>
            <p:cNvCxnSpPr>
              <a:cxnSpLocks/>
              <a:stCxn id="80" idx="0"/>
              <a:endCxn id="81" idx="4"/>
            </p:cNvCxnSpPr>
            <p:nvPr/>
          </p:nvCxnSpPr>
          <p:spPr>
            <a:xfrm rot="16200000" flipH="1" flipV="1">
              <a:off x="6005380" y="3014687"/>
              <a:ext cx="152400" cy="231719"/>
            </a:xfrm>
            <a:prstGeom prst="curvedConnector5">
              <a:avLst>
                <a:gd name="adj1" fmla="val -150000"/>
                <a:gd name="adj2" fmla="val 50000"/>
                <a:gd name="adj3" fmla="val 250000"/>
              </a:avLst>
            </a:prstGeom>
            <a:ln w="9525">
              <a:solidFill>
                <a:srgbClr val="002060">
                  <a:alpha val="39000"/>
                </a:srgbClr>
              </a:solidFill>
              <a:prstDash val="lgDash"/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连接符: 曲线 83">
              <a:extLst>
                <a:ext uri="{FF2B5EF4-FFF2-40B4-BE49-F238E27FC236}">
                  <a16:creationId xmlns:a16="http://schemas.microsoft.com/office/drawing/2014/main" id="{70B8E1D3-BDE3-4266-8B56-4D980EC40CB2}"/>
                </a:ext>
              </a:extLst>
            </p:cNvPr>
            <p:cNvCxnSpPr>
              <a:cxnSpLocks/>
              <a:stCxn id="79" idx="6"/>
            </p:cNvCxnSpPr>
            <p:nvPr/>
          </p:nvCxnSpPr>
          <p:spPr>
            <a:xfrm>
              <a:off x="6514092" y="3130547"/>
              <a:ext cx="302148" cy="344322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002060">
                  <a:alpha val="39000"/>
                </a:srgbClr>
              </a:solidFill>
              <a:prstDash val="lgDash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连接符: 曲线 70">
              <a:extLst>
                <a:ext uri="{FF2B5EF4-FFF2-40B4-BE49-F238E27FC236}">
                  <a16:creationId xmlns:a16="http://schemas.microsoft.com/office/drawing/2014/main" id="{C3D842BE-B2E7-45AE-84E0-CA06647B31F9}"/>
                </a:ext>
              </a:extLst>
            </p:cNvPr>
            <p:cNvCxnSpPr>
              <a:cxnSpLocks/>
              <a:endCxn id="81" idx="0"/>
            </p:cNvCxnSpPr>
            <p:nvPr/>
          </p:nvCxnSpPr>
          <p:spPr>
            <a:xfrm rot="10800000" flipV="1">
              <a:off x="5965720" y="2802365"/>
              <a:ext cx="850156" cy="251982"/>
            </a:xfrm>
            <a:prstGeom prst="bentConnector2">
              <a:avLst/>
            </a:prstGeom>
            <a:ln w="9525">
              <a:solidFill>
                <a:srgbClr val="002060">
                  <a:alpha val="39000"/>
                </a:srgbClr>
              </a:solidFill>
              <a:prstDash val="lgDash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898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实验结果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</a:t>
            </a:r>
            <a:r>
              <a:rPr lang="en-US" altLang="zh-CN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xperimental Result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212121"/>
                </a:solidFill>
                <a:latin typeface="Noto Sans SC"/>
                <a:ea typeface="Noto Sans SC"/>
                <a:sym typeface="Noto Sans SC"/>
              </a:rPr>
              <a:t>实验结果</a:t>
            </a:r>
            <a:endParaRPr lang="en-US" sz="11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B1339AC-A189-40B1-8CED-3F4DD23BC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471289"/>
            <a:ext cx="5449060" cy="2715004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4D0C713A-AB3C-4123-AEFF-D104224004FF}"/>
              </a:ext>
            </a:extLst>
          </p:cNvPr>
          <p:cNvSpPr txBox="1"/>
          <p:nvPr/>
        </p:nvSpPr>
        <p:spPr>
          <a:xfrm>
            <a:off x="762000" y="1422910"/>
            <a:ext cx="609755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212121"/>
                </a:solidFill>
                <a:latin typeface="Noto Sans SC"/>
                <a:ea typeface="Noto Sans SC"/>
                <a:sym typeface="Noto Sans SC"/>
              </a:rPr>
              <a:t>单挑搜索效果比较</a:t>
            </a:r>
            <a:endParaRPr lang="en-US" altLang="zh-CN" sz="1800" b="1" dirty="0">
              <a:solidFill>
                <a:srgbClr val="212121"/>
              </a:solidFill>
              <a:latin typeface="Noto Sans SC"/>
              <a:ea typeface="Noto Sans SC"/>
              <a:sym typeface="Noto Sans SC"/>
            </a:endParaRPr>
          </a:p>
          <a:p>
            <a:endParaRPr lang="en-US" altLang="zh-CN" sz="1800" b="1" dirty="0">
              <a:solidFill>
                <a:srgbClr val="212121"/>
              </a:solidFill>
              <a:latin typeface="Noto Sans SC"/>
              <a:ea typeface="Noto Sans SC"/>
              <a:sym typeface="Noto Sans SC"/>
            </a:endParaRPr>
          </a:p>
          <a:p>
            <a:r>
              <a:rPr lang="en-US" altLang="zh-CN" b="1" dirty="0">
                <a:solidFill>
                  <a:srgbClr val="212121"/>
                </a:solidFill>
                <a:latin typeface="Noto Sans SC"/>
                <a:ea typeface="Noto Sans SC"/>
                <a:sym typeface="Noto Sans SC"/>
              </a:rPr>
              <a:t>Backbone: Qwen3-0.6B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E98A954-A27B-43F6-B925-CB4702ED3C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426" y="2471289"/>
            <a:ext cx="5382208" cy="333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24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项目路线图与未来展望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PROJECT ROADMAP &amp; FUTURE OUTLOOK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07907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673569" y="1324572"/>
            <a:ext cx="5207000" cy="5202977"/>
          </a:xfrm>
          <a:prstGeom prst="roundRect">
            <a:avLst>
              <a:gd name="adj" fmla="val 4102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927569" y="1578572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当前任务清单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3927569" y="2086572"/>
            <a:ext cx="76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27569" y="2340572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00E5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8069" y="2569172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26069" y="2467572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96AA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进行中：</a:t>
            </a: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将所有多跳检索数据集评估完整跑通，确保数据准确性。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927569" y="3229572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00E5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8069" y="3458172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26069" y="3356572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96AA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进行中：</a:t>
            </a: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绘制更清晰的创新点示意图，直观展示核心技术逻辑。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27569" y="4118572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EEEEE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8069" y="4347172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26069" y="4245572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计划中：</a:t>
            </a: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使用本系统替换 EverMemOS 中的 Agentic Search 核心模块。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927569" y="5007572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EEEEE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8069" y="5236172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626069" y="5134572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计划中：</a:t>
            </a: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整理相关创新成果撰写论文，目标投稿至 ICLR 2026 顶会。</a:t>
            </a:r>
            <a:endParaRPr lang="en-US" sz="1100"/>
          </a:p>
        </p:txBody>
      </p:sp>
      <p:sp>
        <p:nvSpPr>
          <p:cNvPr id="34" name="AutoShape 18">
            <a:extLst>
              <a:ext uri="{FF2B5EF4-FFF2-40B4-BE49-F238E27FC236}">
                <a16:creationId xmlns:a16="http://schemas.microsoft.com/office/drawing/2014/main" id="{05A74812-544F-485E-A3FD-877E96BBE20C}"/>
              </a:ext>
            </a:extLst>
          </p:cNvPr>
          <p:cNvSpPr/>
          <p:nvPr/>
        </p:nvSpPr>
        <p:spPr>
          <a:xfrm>
            <a:off x="3945675" y="5896572"/>
            <a:ext cx="487202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1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G</a:t>
            </a:r>
            <a:r>
              <a:rPr lang="en-US" altLang="zh-CN" sz="1000" b="1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ithub</a:t>
            </a:r>
            <a:r>
              <a:rPr lang="en-US" altLang="zh-CN" sz="1000" b="1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 Link: https://github.com/longtaizi13579/LifeMem-AgenticSearch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455</Words>
  <Application>Microsoft Office PowerPoint</Application>
  <PresentationFormat>宽屏</PresentationFormat>
  <Paragraphs>111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yeqin zhang</cp:lastModifiedBy>
  <cp:revision>32</cp:revision>
  <dcterms:modified xsi:type="dcterms:W3CDTF">2026-04-24T06:38:12Z</dcterms:modified>
</cp:coreProperties>
</file>